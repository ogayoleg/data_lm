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A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530352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26A6C5"/>
                </a:solidFill>
                <a:latin typeface="Aptos"/>
              </a:rPr>
              <a:t>ПРОЕКТ-ПРАКТИКУМ  •  DEVOPS-ИНЖЕНЕРИЯ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652760" cy="1417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Разработка и автоматизация</a:t>
            </a:r>
            <a:br/>
            <a:r>
              <a:t>ML-пайплайна бинарной классификации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70632"/>
            <a:ext cx="987552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BBD2EE"/>
                </a:solidFill>
                <a:latin typeface="Aptos"/>
              </a:rPr>
              <a:t>Telco Customer Churn  ×  Bank Marketing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03320"/>
            <a:ext cx="5166360" cy="12252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3703320"/>
            <a:ext cx="73152" cy="1225296"/>
          </a:xfrm>
          <a:prstGeom prst="rect">
            <a:avLst/>
          </a:prstGeom>
          <a:solidFill>
            <a:srgbClr val="26A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831335"/>
            <a:ext cx="480060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Data Scientist / Researcher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233672"/>
            <a:ext cx="480060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ФИО: ____________________</a:t>
            </a:r>
            <a:br/>
            <a:r>
              <a:t>EDA · признаки · модели · интерпретация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703320"/>
            <a:ext cx="5166360" cy="12252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3703320"/>
            <a:ext cx="73152" cy="1225296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31335"/>
            <a:ext cx="480060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ML Engineer / DevOps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33672"/>
            <a:ext cx="480060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ФИО: ____________________</a:t>
            </a:r>
            <a:br/>
            <a:r>
              <a:t>архитектура · тесты · DVC · CI · документация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779008"/>
            <a:ext cx="69494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BBD2EE"/>
                </a:solidFill>
                <a:latin typeface="Aptos"/>
              </a:rPr>
              <a:t>Дисциплина: «Введение в науку о данных»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5779008"/>
            <a:ext cx="25786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300" b="0">
                <a:solidFill>
                  <a:srgbClr val="BBD2EE"/>
                </a:solidFill>
                <a:latin typeface="Aptos"/>
              </a:rPr>
              <a:t>Группа: 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4784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BBD2EE"/>
                </a:solidFill>
                <a:latin typeface="Aptos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Постановка задачи и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Два публичных датасета Kaggle, 48 231 наблюдение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5440680" cy="2084831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88720"/>
            <a:ext cx="73152" cy="2084831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316736"/>
            <a:ext cx="507492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TELCO CUSTOMER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19072"/>
            <a:ext cx="5074920" cy="1426463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Бизнес-задача: кто из клиентов уйдёт?</a:t>
            </a:r>
            <a:br/>
            <a:br/>
            <a:r>
              <a:t>7 043 записи  •  20 признаков</a:t>
            </a:r>
            <a:br/>
            <a:r>
              <a:t>Цель: Churn = Yes / No</a:t>
            </a:r>
            <a:br/>
            <a:r>
              <a:t>Положительный класс: 26,5%</a:t>
            </a:r>
            <a:br/>
            <a:r>
              <a:t>Особенность: 11 пропусков TotalCharges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5440680" cy="2084831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88720"/>
            <a:ext cx="73152" cy="2084831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316736"/>
            <a:ext cx="507492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BANK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719072"/>
            <a:ext cx="5074920" cy="1426463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Бизнес-задача: кто подпишется на депозит?</a:t>
            </a:r>
            <a:br/>
            <a:br/>
            <a:r>
              <a:t>41 188 записей  •  20 признаков</a:t>
            </a:r>
            <a:br/>
            <a:r>
              <a:t>Цель: y = yes / no</a:t>
            </a:r>
            <a:br/>
            <a:r>
              <a:t>Положительный класс: 11,3%</a:t>
            </a:r>
            <a:br/>
            <a:r>
              <a:t>Особенность: утечка в duration</a:t>
            </a:r>
          </a:p>
        </p:txBody>
      </p:sp>
      <p:pic>
        <p:nvPicPr>
          <p:cNvPr id="16" name="Picture 15" descr="telco_targe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315" y="3547872"/>
            <a:ext cx="4047328" cy="2395728"/>
          </a:xfrm>
          <a:prstGeom prst="rect">
            <a:avLst/>
          </a:prstGeom>
        </p:spPr>
      </p:pic>
      <p:pic>
        <p:nvPicPr>
          <p:cNvPr id="17" name="Picture 16" descr="bank_target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486" y="3547872"/>
            <a:ext cx="4324107" cy="2395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016752"/>
            <a:ext cx="1065276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0F233F"/>
                </a:solidFill>
                <a:latin typeface="Aptos"/>
              </a:rPr>
              <a:t>Почему два датасета: разные уровни дисбаланса и разные риски качества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EDA: ключевые находки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От описания данных — к проверяемым гипотезам и клиентским сегментам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3/10</a:t>
            </a:r>
          </a:p>
        </p:txBody>
      </p:sp>
      <p:pic>
        <p:nvPicPr>
          <p:cNvPr id="8" name="Picture 7" descr="telco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17" y="1170432"/>
            <a:ext cx="4541645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188720"/>
            <a:ext cx="5138928" cy="1005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188720"/>
            <a:ext cx="73152" cy="100584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316736"/>
            <a:ext cx="477316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42,7% ОТТОКА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719072"/>
            <a:ext cx="4773168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у клиентов с помесячным контрактом против 2,8% у Two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359152"/>
            <a:ext cx="5138928" cy="1005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359152"/>
            <a:ext cx="73152" cy="10058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487168"/>
            <a:ext cx="477316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~50% ОТТОКА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889504"/>
            <a:ext cx="4773168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у клиентов со стажем 0–10 месяцев; после 4 лет — около 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529584"/>
            <a:ext cx="5138928" cy="1005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3529584"/>
            <a:ext cx="73152" cy="100584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3657600"/>
            <a:ext cx="477316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45,3% ОТТОКА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4059935"/>
            <a:ext cx="4773168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при оплате Electronic check против ~15% у автоплатежей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700016"/>
            <a:ext cx="5138928" cy="1005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700016"/>
            <a:ext cx="73152" cy="10058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4828031"/>
            <a:ext cx="477316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ГЛАВНЫЙ СЕГМЕНТ РИСКА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5230368"/>
            <a:ext cx="4773168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новый клиент + месячный контракт + ручная оплата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65276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2F855A"/>
                </a:solidFill>
                <a:latin typeface="Aptos"/>
              </a:rPr>
              <a:t>Практический результат EDA: адресный список для кампании удержания.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Предобработка, признаки и утечка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Все обучаемые преобразования выполняются внутри sklearn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4/10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43000"/>
            <a:ext cx="3520440" cy="144475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43000"/>
            <a:ext cx="73152" cy="14447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71016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ПРОПУСКИ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673352"/>
            <a:ext cx="3154680" cy="7863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TotalCharges → числовой тип; медианная импутация только на train-фолде. Пустые значения связаны с tenure =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61488"/>
            <a:ext cx="3520440" cy="144475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61488"/>
            <a:ext cx="73152" cy="1444752"/>
          </a:xfrm>
          <a:prstGeom prst="rect">
            <a:avLst/>
          </a:prstGeom>
          <a:solidFill>
            <a:srgbClr val="26A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89504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TELCO: +7 ПРИЗНАКОВ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291840"/>
            <a:ext cx="3154680" cy="7863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tenure_group · num_addons · avg_monthly_charge · charge_growth · has_family · electronic_check · new_customer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79976"/>
            <a:ext cx="3520440" cy="144475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379976"/>
            <a:ext cx="73152" cy="144475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507992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BANK: +5 ПРИЗНАКОВ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910328"/>
            <a:ext cx="3154680" cy="7863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contacted_before · pdays_recency · campaign_log · season · macro_stress; pdays=999 трактуется как «никогда».</a:t>
            </a:r>
          </a:p>
        </p:txBody>
      </p:sp>
      <p:pic>
        <p:nvPicPr>
          <p:cNvPr id="20" name="Picture 19" descr="bank_duration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84259"/>
            <a:ext cx="7059168" cy="243461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98848" y="5715000"/>
            <a:ext cx="6720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C53030"/>
                </a:solidFill>
                <a:latin typeface="Aptos"/>
              </a:rPr>
              <a:t>duration известен только после звонка: +0,148 ROC-AUC — фантомное качество, признак исключён.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Архитектура и MLOps-автоматизация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Структурированный репозиторий и воспроизводимость одной командой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ML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5/10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6304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download</a:t>
            </a:r>
            <a:br/>
            <a:r>
              <a:t>SHA-256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51790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23444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A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46304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clean + 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51790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23444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146304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train + 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151790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23444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46304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151790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123444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146304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reports + model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4360" y="2468880"/>
          <a:ext cx="73152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514600"/>
                <a:gridCol w="338328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Слой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Файлы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Назначение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Конфигурация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config.py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пути, seed, реестр данных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Данные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download.py · datasets.py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загрузка, checksum, очистка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ML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features.py · training.py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признаки, модели, CV, порог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Оценка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evaluation.py · plotting.py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метрики и графики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Оркестрация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pipeline.py · Makefile · dvc.yaml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запуск одной командой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8156448" y="2468880"/>
            <a:ext cx="3456432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2468880"/>
            <a:ext cx="73152" cy="9144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2596896"/>
            <a:ext cx="309067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23 ТЕСТА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999232"/>
            <a:ext cx="3090672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pytest: все проверки пройдены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3547872"/>
            <a:ext cx="3456432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3547872"/>
            <a:ext cx="73152" cy="914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3675887"/>
            <a:ext cx="309067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КАЧЕСТВО КОДА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4078224"/>
            <a:ext cx="3090672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flake8 + black: 0 замечаний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4626864"/>
            <a:ext cx="3456432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6448" y="4626864"/>
            <a:ext cx="73152" cy="91440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4754879"/>
            <a:ext cx="309067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CI / DVC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5157216"/>
            <a:ext cx="3090672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smoke-прогон · граф зависимостей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9788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0F233F"/>
                </a:solidFill>
                <a:latin typeface="Aptos"/>
              </a:rPr>
              <a:t>bash scripts/run_all.sh   •   make pipeline   •   dvc repro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Методология и сравнение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Честная оценка при дисбалансе и защита от утечек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Совместно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6/10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7043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9903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Stratified</a:t>
            </a:r>
            <a:br/>
            <a:r>
              <a:t>80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453896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17043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A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39903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5-fold CV</a:t>
            </a:r>
            <a:br/>
            <a:r>
              <a:t>4 модели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453896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17043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139903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Randomized</a:t>
            </a:r>
            <a:br/>
            <a:r>
              <a:t>Search 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1453896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17043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39903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OOF-порог</a:t>
            </a:r>
            <a:br/>
            <a:r>
              <a:t>по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1453896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117043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139903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финальный</a:t>
            </a:r>
            <a:br/>
            <a:r>
              <a:t>test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4360" y="2450592"/>
          <a:ext cx="6629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17320"/>
                <a:gridCol w="2926080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Модель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Семейство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Работа с дисбалансом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линейная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class_weight=balanced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бэггинг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class_weight=balanced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бустинг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scale_pos_weight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LightGBM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бустинг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class_weight=balanced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516368" y="2450592"/>
            <a:ext cx="4096512" cy="10698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16368" y="2450592"/>
            <a:ext cx="73152" cy="10698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7536" y="2578608"/>
            <a:ext cx="373075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МЕТРИКИ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2980944"/>
            <a:ext cx="3730752" cy="41147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Accuracy · Precision · Recall · F1 · ROC-AUC · PR-AUC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16368" y="3675887"/>
            <a:ext cx="4096512" cy="10698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16368" y="3675887"/>
            <a:ext cx="73152" cy="106984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3803903"/>
            <a:ext cx="373075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ЗАЩИТА ОТ УТЕЧЕК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4206240"/>
            <a:ext cx="3730752" cy="41147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preprocessing на train · duration удалён · порог по OOF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16368" y="4901184"/>
            <a:ext cx="4096512" cy="10698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16368" y="4901184"/>
            <a:ext cx="73152" cy="106984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17536" y="5029200"/>
            <a:ext cx="373075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ВОСПРОИЗВОДИМОСТЬ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5431536"/>
            <a:ext cx="3730752" cy="41147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random_state=42 · фиксированный split · SHA-256 данных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Результаты: Telco 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Финальная модель — Logistic Regression, оптимальный порог 0,58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7/10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0,848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ранжирование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0,637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+0,026 к порогу 0,5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0,746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найдено ушедших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8464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0,556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точность сигналов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9831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59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59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0,774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59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вспомогательная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0,670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дисбаланс</a:t>
            </a:r>
          </a:p>
        </p:txBody>
      </p:sp>
      <p:pic>
        <p:nvPicPr>
          <p:cNvPr id="32" name="Picture 31" descr="telco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816" y="2331720"/>
            <a:ext cx="4026655" cy="3456432"/>
          </a:xfrm>
          <a:prstGeom prst="rect">
            <a:avLst/>
          </a:prstGeom>
        </p:spPr>
      </p:pic>
      <p:pic>
        <p:nvPicPr>
          <p:cNvPr id="33" name="Picture 32" descr="telco_threshold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562647"/>
            <a:ext cx="5212080" cy="29945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1520" y="5897880"/>
            <a:ext cx="1069848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0F233F"/>
                </a:solidFill>
                <a:latin typeface="Aptos"/>
              </a:rPr>
              <a:t>Линейная модель обошла бустинги и остаётся наиболее интерпретируемой и дешёвой в сопровождении.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Результаты: Bank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Финальная модель — XGBoost, оптимальный порог 0,19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8/10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0,817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ранжирование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0,528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+0,186 к порогу 0,5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0,603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вместо 0,227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8464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0,469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точность сигналов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9831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59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59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0,878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59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после порога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0,492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1828800"/>
            <a:ext cx="1444752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при 11,3% positive</a:t>
            </a:r>
          </a:p>
        </p:txBody>
      </p:sp>
      <p:pic>
        <p:nvPicPr>
          <p:cNvPr id="32" name="Picture 31" descr="bank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816" y="2331720"/>
            <a:ext cx="4026655" cy="3456432"/>
          </a:xfrm>
          <a:prstGeom prst="rect">
            <a:avLst/>
          </a:prstGeom>
        </p:spPr>
      </p:pic>
      <p:pic>
        <p:nvPicPr>
          <p:cNvPr id="33" name="Picture 32" descr="bank_threshold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607539"/>
            <a:ext cx="5212080" cy="29047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1520" y="5897880"/>
            <a:ext cx="1069848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2F855A"/>
                </a:solidFill>
                <a:latin typeface="Aptos"/>
              </a:rPr>
              <a:t>Порог важен не меньше модели: F1 вырос с 0,342 до 0,528, Recall — с 0,227 до 0,603.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Интерпретация и практическая польза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Permutation importance: падение ROC-AUC при перемешивании признака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9/10</a:t>
            </a:r>
          </a:p>
        </p:txBody>
      </p:sp>
      <p:pic>
        <p:nvPicPr>
          <p:cNvPr id="8" name="Picture 7" descr="telco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952" y="1097280"/>
            <a:ext cx="3383774" cy="4251960"/>
          </a:xfrm>
          <a:prstGeom prst="rect">
            <a:avLst/>
          </a:prstGeom>
        </p:spPr>
      </p:pic>
      <p:pic>
        <p:nvPicPr>
          <p:cNvPr id="9" name="Picture 8" descr="bank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60" y="1097280"/>
            <a:ext cx="3785655" cy="4251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413248"/>
            <a:ext cx="5349240" cy="7498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413248"/>
            <a:ext cx="73152" cy="7498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541264"/>
            <a:ext cx="498347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TELCO: КОМУ ПРЕДЛОЖИТЬ УДЕРЖАНИЕ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5943600"/>
            <a:ext cx="4983479" cy="914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Contract · tenure · tenure_group — управляемые клиентские признаки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5413248"/>
            <a:ext cx="5349240" cy="7498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5413248"/>
            <a:ext cx="73152" cy="74980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541264"/>
            <a:ext cx="498347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BANK: КОГДА И КОМУ ЗВОНИТЬ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43600"/>
            <a:ext cx="4983479" cy="914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nr.employed · emp.var.rate · euribor3m — макроэкономический фон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Выводы, ограничения и следующая итерация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Результат готов к пилоту и дальнейшей продуктовой проверке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Совместно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54864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3520440" cy="190195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73152" cy="190195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271016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ЧТО ПОЛУЧИЛИ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673352"/>
            <a:ext cx="3154680" cy="12435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Telco: ROC-AUC 0,848 · F1 0,637</a:t>
            </a:r>
            <a:br/>
            <a:r>
              <a:t>Bank: ROC-AUC 0,817 · F1 0,528</a:t>
            </a:r>
            <a:br/>
            <a:br/>
            <a:r>
              <a:t>Модели ранжируют клиентов и помогают направлять ограниченный бюджет.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143000"/>
            <a:ext cx="3520440" cy="190195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143000"/>
            <a:ext cx="73152" cy="19019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271016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ЧТО РЕШИЛИ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673352"/>
            <a:ext cx="3154680" cy="12435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Дисбаланс → F1 / PR-AUC</a:t>
            </a:r>
            <a:br/>
            <a:r>
              <a:t>Утечка duration → исключена</a:t>
            </a:r>
            <a:br/>
            <a:r>
              <a:t>Пропуски → pipeline-импутация</a:t>
            </a:r>
            <a:br/>
            <a:r>
              <a:t>Долгий запуск → fast-режим и DVC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143000"/>
            <a:ext cx="3520440" cy="190195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1143000"/>
            <a:ext cx="73152" cy="1901952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71016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ОГРАНИЧЕНИЯ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73352"/>
            <a:ext cx="3154680" cy="12435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Нет оценки бизнес-стоимости ошибок</a:t>
            </a:r>
            <a:br/>
            <a:r>
              <a:t>Нет калибровки вероятностей</a:t>
            </a:r>
            <a:br/>
            <a:r>
              <a:t>Нет мониторинга дрейфа</a:t>
            </a:r>
            <a:br/>
            <a:r>
              <a:t>Результаты требуют A/B-пилота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3520440" cy="1554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337560"/>
            <a:ext cx="73152" cy="1554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465576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1.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867911"/>
            <a:ext cx="3154680" cy="8961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FastAPI + Docker</a:t>
            </a:r>
            <a:br/>
            <a:r>
              <a:t>POST /predict · healthcheck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3337560"/>
            <a:ext cx="3520440" cy="1554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3337560"/>
            <a:ext cx="73152" cy="155448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3465576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2. ЭКСПЕРИМЕНТЫ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867911"/>
            <a:ext cx="3154680" cy="8961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MLflow · калибровка</a:t>
            </a:r>
            <a:br/>
            <a:r>
              <a:t>порог по стоимости ошибок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3337560"/>
            <a:ext cx="3520440" cy="1554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4152" y="3337560"/>
            <a:ext cx="73152" cy="155448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465576"/>
            <a:ext cx="31546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3. МОНИТОРИНГ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867911"/>
            <a:ext cx="3154680" cy="8961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PSI / KS · деградация метрик</a:t>
            </a:r>
            <a:br/>
            <a:r>
              <a:t>автоматическое переобучение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85232"/>
            <a:ext cx="1097280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0F233F"/>
                </a:solidFill>
                <a:latin typeface="Aptos"/>
              </a:rPr>
              <a:t>Воспроизведение проекта:  bash scripts/run_all.sh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24728"/>
            <a:ext cx="1097280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100" b="1">
                <a:solidFill>
                  <a:srgbClr val="2B6CB0"/>
                </a:solidFill>
                <a:latin typeface="Aptos"/>
              </a:rPr>
              <a:t>Спасибо! Готовы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