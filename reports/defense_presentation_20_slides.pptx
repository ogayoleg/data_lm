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65836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6A6C5"/>
                </a:solidFill>
                <a:latin typeface="Aptos"/>
              </a:rPr>
              <a:t>ПРОЕКТ-ПРАКТИКУМ  •  DEVOPS-ИНЖЕНЕРИЯ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10652760" cy="1417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Разработка и автоматизация</a:t>
            </a:r>
            <a:br/>
            <a:r>
              <a:t>ML-пайплайна бинарной классификации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9601200" cy="40233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BBD2EE"/>
                </a:solidFill>
                <a:latin typeface="Aptos"/>
              </a:rPr>
              <a:t>Telco Customer Churn  ×  Bank Marketing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675887"/>
            <a:ext cx="5166360" cy="1243584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675887"/>
            <a:ext cx="73152" cy="1243584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803903"/>
            <a:ext cx="48006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Data Scientist / 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206240"/>
            <a:ext cx="4800600" cy="5852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ФИО: ____________________</a:t>
            </a:r>
            <a:br/>
            <a:r>
              <a:t>EDA · признаки · модели · интерпретация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675887"/>
            <a:ext cx="5166360" cy="1243584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3675887"/>
            <a:ext cx="73152" cy="1243584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03903"/>
            <a:ext cx="48006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ML Engineer / DevOps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800600" cy="5852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ФИО: ____________________</a:t>
            </a:r>
            <a:br/>
            <a:r>
              <a:t>архитектура · тесты · DVC · CI · документация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760720"/>
            <a:ext cx="67665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BBD2EE"/>
                </a:solidFill>
                <a:latin typeface="Aptos"/>
              </a:rPr>
              <a:t>Дисциплина: «Введение в науку о данных»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760720"/>
            <a:ext cx="2487168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300" b="0">
                <a:solidFill>
                  <a:srgbClr val="BBD2EE"/>
                </a:solidFill>
                <a:latin typeface="Aptos"/>
              </a:rPr>
              <a:t>Группа: 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47104"/>
            <a:ext cx="5029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BBD2EE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Цель и требования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Сквозной воспроизводимый ML-процесс для бинарной классификации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47472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362456"/>
            <a:ext cx="31089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64792"/>
            <a:ext cx="3108960" cy="7589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Закрепить EDA, подготовку данных, моделирование и принципы DevOps/MLOps в одном проекте.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234440"/>
            <a:ext cx="347472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234440"/>
            <a:ext cx="73152" cy="14173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362456"/>
            <a:ext cx="31089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ЗАДАЧА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64792"/>
            <a:ext cx="3108960" cy="7589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Построить end-to-end pipeline на публичных данных объёмом более 5 000 строк.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234440"/>
            <a:ext cx="347472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1234440"/>
            <a:ext cx="73152" cy="141732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362456"/>
            <a:ext cx="31089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764792"/>
            <a:ext cx="3108960" cy="7589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Воспроизводимый код, модели, метрики, тесты, графики, отчёт и презентация.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9067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31927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37413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309067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31927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Feature</a:t>
            </a:r>
            <a:br/>
            <a:r>
              <a:t>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337413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309067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331927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4 модели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37413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4344" y="309067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496" y="331927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валидация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374136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3090672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319272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MLOps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370832"/>
            <a:ext cx="1046988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" y="4370832"/>
            <a:ext cx="73152" cy="1143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4498848"/>
            <a:ext cx="1010411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КРИТЕРИИ УСПЕХА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4901184"/>
            <a:ext cx="10104119" cy="4846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Качество исследования  •  корректные метрики  •  отсутствие утечек  •  читаемый код  •  автоматизация  •  командная защита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06440"/>
            <a:ext cx="10561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0F233F"/>
                </a:solidFill>
                <a:latin typeface="Aptos"/>
              </a:rPr>
              <a:t>Проект закрывает требования методического указания и дополнительно сравнивает два датасета.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Распределение ролей в команде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Ответственность разделена, решения и выводы обсуждались совместно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394960" cy="4434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4434840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62456"/>
            <a:ext cx="50292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DATA SCIENTIST / RESEARCHER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64792"/>
            <a:ext cx="5029200" cy="3776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1. Выбор и анализ датасетов</a:t>
            </a:r>
            <a:br/>
            <a:r>
              <a:t>2. EDA: баланс, пропуски, корреляции</a:t>
            </a:r>
            <a:br/>
            <a:r>
              <a:t>3. Feature Engineering</a:t>
            </a:r>
            <a:br/>
            <a:r>
              <a:t>4. Обучение четырёх моделей</a:t>
            </a:r>
            <a:br/>
            <a:r>
              <a:t>5. CV, тюнинг и выбор порога</a:t>
            </a:r>
            <a:br/>
            <a:r>
              <a:t>6. Интерпретация признаков</a:t>
            </a:r>
            <a:br/>
            <a:r>
              <a:t>7. Бизнес-выводы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434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73152" cy="4434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362456"/>
            <a:ext cx="50292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ML ENGINEER / DEVOPS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764792"/>
            <a:ext cx="5029200" cy="3776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1. Структура репозитория</a:t>
            </a:r>
            <a:br/>
            <a:r>
              <a:t>2. Виртуальное окружение и зависимости</a:t>
            </a:r>
            <a:br/>
            <a:r>
              <a:t>3. Рефакторинг в модули src/</a:t>
            </a:r>
            <a:br/>
            <a:r>
              <a:t>4. Модульные тесты</a:t>
            </a:r>
            <a:br/>
            <a:r>
              <a:t>5. flake8 и black</a:t>
            </a:r>
            <a:br/>
            <a:r>
              <a:t>6. Makefile, DVC и GitHub Actions</a:t>
            </a:r>
            <a:br/>
            <a:r>
              <a:t>7. Документация и воспроизводимость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9592"/>
            <a:ext cx="10744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0F233F"/>
                </a:solidFill>
                <a:latin typeface="Aptos"/>
              </a:rPr>
              <a:t>Совместно: постановка эксперимента, анализ ошибок, финальный отчёт и защита.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Две задачи и два датасета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48 231 наблюдение и разные уровни дисбаланса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4/20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109270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60520"/>
                <a:gridCol w="4297680"/>
              </a:tblGrid>
              <a:tr h="54292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Параметр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Telco Customer Churn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Bank Marketing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Бизнес-вопрос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Уйдёт ли клиент?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Подпишется ли на депозит?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Источник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Kaggle / IBM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Kaggle / UCI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Записей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7 043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41 188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Исходных признаков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Целевая переменная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Churn = Yes/No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y = yes/no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Положительный класс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26,5%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11,3%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Главная проблема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TotalCharges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duration — утечка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687568"/>
            <a:ext cx="1056132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687568"/>
            <a:ext cx="73152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815583"/>
            <a:ext cx="101955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ЗАЧЕМ ДВА ДАТАСЕТА?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6217920"/>
            <a:ext cx="10195560" cy="-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Проверяем переносимость методологии, а не подгонку решения под одну таблицу.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Баланс целевых классов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Почему Accuracy недостаточно для оценки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5/20</a:t>
            </a:r>
          </a:p>
        </p:txBody>
      </p:sp>
      <p:pic>
        <p:nvPicPr>
          <p:cNvPr id="8" name="Picture 7" descr="telco_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81593"/>
            <a:ext cx="5440680" cy="3220492"/>
          </a:xfrm>
          <a:prstGeom prst="rect">
            <a:avLst/>
          </a:prstGeom>
        </p:spPr>
      </p:pic>
      <p:pic>
        <p:nvPicPr>
          <p:cNvPr id="9" name="Picture 8" descr="bank_target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784663"/>
            <a:ext cx="5440680" cy="30143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468112"/>
            <a:ext cx="5074920" cy="71323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468112"/>
            <a:ext cx="73152" cy="7132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5596128"/>
            <a:ext cx="47091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TELCO: 26,5%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5998464"/>
            <a:ext cx="4709159" cy="548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Допустим умеренный дисбаланс; важны Recall и F1.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5468112"/>
            <a:ext cx="5074920" cy="71323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792" y="5468112"/>
            <a:ext cx="73152" cy="71323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5596128"/>
            <a:ext cx="47091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BANK: 11,3%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5998464"/>
            <a:ext cx="4709159" cy="548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Наивная модель даст 88,7% Accuracy и нулевой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EDA Telco: кто находится в зоне риска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Контракт, стаж и способ оплаты формируют главный сегмент оттока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6/20</a:t>
            </a:r>
          </a:p>
        </p:txBody>
      </p:sp>
      <p:pic>
        <p:nvPicPr>
          <p:cNvPr id="8" name="Picture 7" descr="telco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96" y="1143000"/>
            <a:ext cx="4847823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28232" y="1234440"/>
            <a:ext cx="5138928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2" y="1234440"/>
            <a:ext cx="73152" cy="93268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62456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42,7%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64792"/>
            <a:ext cx="4773168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отток при Month-to-month против 2,8% при Two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2350008"/>
            <a:ext cx="5138928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2350008"/>
            <a:ext cx="73152" cy="9326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78024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~50%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80360"/>
            <a:ext cx="4773168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отток при стаже 0–10 месяцев; после 4 лет — около 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3465576"/>
            <a:ext cx="5138928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3465576"/>
            <a:ext cx="73152" cy="93268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93592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45,3%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95928"/>
            <a:ext cx="4773168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отток при Electronic check против ~15% у автоплатежей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8232" y="4581144"/>
            <a:ext cx="5138928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8232" y="4581144"/>
            <a:ext cx="73152" cy="932688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09159"/>
            <a:ext cx="477316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СЕГМЕНТ РИСКА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11496"/>
            <a:ext cx="4773168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новый клиент + месячный контракт + ручная оплата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698480" cy="3017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2F855A"/>
                </a:solidFill>
                <a:latin typeface="Aptos"/>
              </a:rPr>
              <a:t>EDA дал не только графики, но и адресную гипотезу для кампании удержания.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EDA Bank: история контактов и макроэкономика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Положительный класс редкий, а признаки сильно коррелируют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7/20</a:t>
            </a:r>
          </a:p>
        </p:txBody>
      </p:sp>
      <p:pic>
        <p:nvPicPr>
          <p:cNvPr id="8" name="Picture 7" descr="bank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50" y="1143000"/>
            <a:ext cx="4808635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88352" y="1234440"/>
            <a:ext cx="41605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88352" y="1234440"/>
            <a:ext cx="73152" cy="1051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362456"/>
            <a:ext cx="37947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ИСТОРИЯ КАМПАНИЙ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64792"/>
            <a:ext cx="3794759" cy="393191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previous &gt; 0: ранее контактированные клиенты подписываются чаще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2487168"/>
            <a:ext cx="41605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2" y="2487168"/>
            <a:ext cx="73152" cy="105156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15184"/>
            <a:ext cx="37947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PDAYS = 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3794759" cy="393191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это сентинел «раньше не связывались», а не число дней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3739896"/>
            <a:ext cx="41605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88352" y="3739896"/>
            <a:ext cx="73152" cy="105156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867911"/>
            <a:ext cx="37947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МАКРО-ФОН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270248"/>
            <a:ext cx="3794759" cy="393191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euribor3m, nr.employed и emp.var.rate взаимосвязаны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4992624"/>
            <a:ext cx="41605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88352" y="4992624"/>
            <a:ext cx="73152" cy="10515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5120640"/>
            <a:ext cx="379475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522976"/>
            <a:ext cx="3794759" cy="393191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сильный сигнал, но недоступен до завершения звонка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Очистка и стратегия предобработки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Статистики вычисляются только на обучающей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56432" cy="1828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62456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ЧИСЛОВЫЕ ПРИЗНАКИ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64792"/>
            <a:ext cx="3090672" cy="11704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• pd.to_numeric для TotalCharges</a:t>
            </a:r>
            <a:br/>
            <a:r>
              <a:t>• медианная импутация</a:t>
            </a:r>
            <a:br/>
            <a:r>
              <a:t>• StandardScaler</a:t>
            </a:r>
            <a:br/>
            <a:r>
              <a:t>• без удаления реальных экстремумов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234440"/>
            <a:ext cx="3456432" cy="1828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234440"/>
            <a:ext cx="73152" cy="1828800"/>
          </a:xfrm>
          <a:prstGeom prst="rect">
            <a:avLst/>
          </a:prstGeom>
          <a:solidFill>
            <a:srgbClr val="26A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62456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КАТЕГОРИАЛЬНЫЕ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64792"/>
            <a:ext cx="3090672" cy="11704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• импутация наиболее частым</a:t>
            </a:r>
            <a:br/>
            <a:r>
              <a:t>• OneHotEncoder</a:t>
            </a:r>
            <a:br/>
            <a:r>
              <a:t>• unknown сохраняется как категория</a:t>
            </a:r>
            <a:br/>
            <a:r>
              <a:t>• неизвестные значения не ломают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234440"/>
            <a:ext cx="3456432" cy="1828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234440"/>
            <a:ext cx="73152" cy="18288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362456"/>
            <a:ext cx="3090672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РАЗДЕЛЕНИЕ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764792"/>
            <a:ext cx="3090672" cy="11704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• Stratified split 80/20</a:t>
            </a:r>
            <a:br/>
            <a:r>
              <a:t>• random_state = 42</a:t>
            </a:r>
            <a:br/>
            <a:r>
              <a:t>• train/test сохраняют баланс</a:t>
            </a:r>
            <a:br/>
            <a:r>
              <a:t>• test не участвует в обучении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3192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raw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986783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8648" y="370332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93192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очистка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3986783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370332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393192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986783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4344" y="370332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496" y="393192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fit transform</a:t>
            </a:r>
            <a:br/>
            <a:r>
              <a:t>на 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986783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370332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93192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transform</a:t>
            </a:r>
            <a:br/>
            <a:r>
              <a:t>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074920"/>
            <a:ext cx="10149840" cy="8412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5840" y="5074920"/>
            <a:ext cx="73152" cy="84124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5202936"/>
            <a:ext cx="97840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ГАРАНТИЯ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8" y="5605272"/>
            <a:ext cx="97840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SimpleImputer, StandardScaler и OneHotEncoder находятся внутри sklearn Pipeline и переобучаются на каждом train-фолде.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Эксперимент с утечкой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Высокая метрика не всегда означает пригодную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9/20</a:t>
            </a:r>
          </a:p>
        </p:txBody>
      </p:sp>
      <p:pic>
        <p:nvPicPr>
          <p:cNvPr id="8" name="Picture 7" descr="bank_duration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4913"/>
            <a:ext cx="6949440" cy="23967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82127" y="1417320"/>
            <a:ext cx="3246120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1855" y="1517904"/>
            <a:ext cx="3026663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БЕЗ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5" y="1728216"/>
            <a:ext cx="3026663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5" y="2103120"/>
            <a:ext cx="3026663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честный ROC-AUC 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2670048"/>
            <a:ext cx="3246120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5" y="2770632"/>
            <a:ext cx="3026663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С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5" y="2980944"/>
            <a:ext cx="3026663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C53030"/>
                </a:solidFill>
                <a:latin typeface="Aptos"/>
              </a:rPr>
              <a:t>0,950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5" y="3355848"/>
            <a:ext cx="3026663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фантомный ROC-AUC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3922776"/>
            <a:ext cx="3246120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5" y="4023360"/>
            <a:ext cx="3026663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РАЗНИЦА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5" y="4233672"/>
            <a:ext cx="3026663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C05621"/>
                </a:solidFill>
                <a:latin typeface="Aptos"/>
              </a:rPr>
              <a:t>+0,148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5" y="4608576"/>
            <a:ext cx="3026663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искусственное улучшение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166360"/>
            <a:ext cx="3383280" cy="8046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5166360"/>
            <a:ext cx="73152" cy="80467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5294376"/>
            <a:ext cx="301752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РЕШЕНИЕ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5696712"/>
            <a:ext cx="3017520" cy="14630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duration исключён до обучения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Создаём признаки, доступные в момент реального предсказания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413248" cy="4389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62456"/>
            <a:ext cx="504748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TELCO: 7 НОВЫХ ПРИЗНАКОВ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64792"/>
            <a:ext cx="5047488" cy="37307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num_addons — количество услуг</a:t>
            </a:r>
            <a:br/>
            <a:r>
              <a:t>tenure_group — сегмент стажа</a:t>
            </a:r>
            <a:br/>
            <a:r>
              <a:t>avg_monthly_charge — средняя оплата</a:t>
            </a:r>
            <a:br/>
            <a:r>
              <a:t>charge_growth — изменение стоимости</a:t>
            </a:r>
            <a:br/>
            <a:r>
              <a:t>has_family — семейный статус</a:t>
            </a:r>
            <a:br/>
            <a:r>
              <a:t>is_electronic_check — ручная оплата</a:t>
            </a:r>
            <a:br/>
            <a:r>
              <a:t>is_new_customer — новый клиент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413248" cy="4389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73152" cy="43891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362456"/>
            <a:ext cx="504748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BANK: 5 НОВЫХ ПРИЗНАКОВ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764792"/>
            <a:ext cx="5047488" cy="37307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was_contacted_before — история контактов</a:t>
            </a:r>
            <a:br/>
            <a:r>
              <a:t>pdays_recency — давность / never</a:t>
            </a:r>
            <a:br/>
            <a:r>
              <a:t>campaign_log — логарифм числа звонков</a:t>
            </a:r>
            <a:br/>
            <a:r>
              <a:t>season — сезон контакта</a:t>
            </a:r>
            <a:br/>
            <a:r>
              <a:t>macro_stress — агрегат макропоказателей</a:t>
            </a:r>
            <a:br/>
            <a:br/>
            <a:r>
              <a:t>duration удалён как утечка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1074420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0F233F"/>
                </a:solidFill>
                <a:latin typeface="Aptos"/>
              </a:rPr>
              <a:t>Созданные признаки вошли в топ permutation importance и подтвердили полезность этапа.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Как предотвращается утечка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Pipeline объединяет preprocessing и модель в один обучаемый объект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11/20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5448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train 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60934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32588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imputer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60934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32588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55448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scaler +</a:t>
            </a:r>
            <a:br/>
            <a:r>
              <a:t>one-hot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160934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32588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55448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model.fit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60934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132588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55448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validation</a:t>
            </a:r>
            <a:br/>
            <a:r>
              <a:t>fold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788920"/>
            <a:ext cx="34290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788920"/>
            <a:ext cx="73152" cy="20574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916936"/>
            <a:ext cx="30632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РИСК 1: PREPROCESSING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19272"/>
            <a:ext cx="3063240" cy="1399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Нельзя вычислять медиану, среднее или категории на всей таблице. Решение: ColumnTransformer внутри Pipeline.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88920"/>
            <a:ext cx="34290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788920"/>
            <a:ext cx="73152" cy="20574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2916936"/>
            <a:ext cx="30632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РИСК 2: TARGET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319272"/>
            <a:ext cx="3063240" cy="1399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duration удалён до формирования модельной матрицы. Эффект утечки измерен отдельным экспериментом.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788920"/>
            <a:ext cx="34290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2788920"/>
            <a:ext cx="73152" cy="20574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916936"/>
            <a:ext cx="30632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РИСК 3: ПОРОГ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319272"/>
            <a:ext cx="3063240" cy="1399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Оптимальный threshold выбирается по out-of-fold прогнозам train, а не по тестовой выборке.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5257800"/>
            <a:ext cx="9921240" cy="731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5257800"/>
            <a:ext cx="73152" cy="7315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44168" y="5385816"/>
            <a:ext cx="95554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АВТОМАТИЧЕСКАЯ ПРОВЕРКА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5788152"/>
            <a:ext cx="9555480" cy="731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Тест test_preprocessor_fitted_on_train_only фиксирует основную гарантию в коде.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Архитектура кодовой базы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Исследовательская логика вынесена из ноутбуков в повторно используемые модули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12/20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17520"/>
                <a:gridCol w="5943600"/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Слой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Файлы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Ответственность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Конфигурация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src/config.py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пути, seed, реестр данных, SHA-256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Данные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download.py · datasets.py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загрузка, проверка, очистка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Признаки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features.py · preprocessing.py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FE и ColumnTransformer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Модели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models.py · training.py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4 модели, CV, tuning, threshold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Оценка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evaluation.py · plotting.py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метрики и 19 графиков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Оркестрация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pipeline.py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единый end-to-end запуск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Интерфейсы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Makefile · scripts/ · dvc.yaml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автоматизация и воспроизведение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925312"/>
            <a:ext cx="1065276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2F855A"/>
                </a:solidFill>
                <a:latin typeface="Aptos"/>
              </a:rPr>
              <a:t>Ноутбуки импортируют функции из src/, а не дублируют производственный код.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Автоматизация и качество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От клонирования репозитория до метрик и модели — одна команда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2423160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35024"/>
            <a:ext cx="2203704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45336"/>
            <a:ext cx="2203704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20240"/>
            <a:ext cx="2203704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pytest: пройдены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234440"/>
            <a:ext cx="2423160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335024"/>
            <a:ext cx="2203704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ЛИНТИНГ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545336"/>
            <a:ext cx="2203704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1920240"/>
            <a:ext cx="2203704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flake8 замечаний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456" y="1234440"/>
            <a:ext cx="2423160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4" y="1335024"/>
            <a:ext cx="2203704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МОДЕЛИ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1545336"/>
            <a:ext cx="2203704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1920240"/>
            <a:ext cx="2203704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единая политика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58784" y="1234440"/>
            <a:ext cx="2423160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1" y="1335024"/>
            <a:ext cx="2203704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ГРАФИКИ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1545336"/>
            <a:ext cx="2203704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1" y="1920240"/>
            <a:ext cx="2203704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автогенерация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560320"/>
            <a:ext cx="3401568" cy="2240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2560320"/>
            <a:ext cx="73152" cy="22402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2688336"/>
            <a:ext cx="3035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MAKE / SCRIPTS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090672"/>
            <a:ext cx="3035808" cy="1581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make setup</a:t>
            </a:r>
            <a:br/>
            <a:r>
              <a:t>make data</a:t>
            </a:r>
            <a:br/>
            <a:r>
              <a:t>make pipeline</a:t>
            </a:r>
            <a:br/>
            <a:r>
              <a:t>make test</a:t>
            </a:r>
            <a:br/>
            <a:r>
              <a:t>make check</a:t>
            </a:r>
            <a:br/>
            <a:br/>
            <a:r>
              <a:t>bash scripts/run_all.sh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560320"/>
            <a:ext cx="3401568" cy="2240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2560320"/>
            <a:ext cx="73152" cy="22402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2688336"/>
            <a:ext cx="3035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DVC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090672"/>
            <a:ext cx="3035808" cy="1581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download → train_telco</a:t>
            </a:r>
            <a:br/>
            <a:r>
              <a:t>             ↘ train_bank</a:t>
            </a:r>
            <a:br/>
            <a:br/>
            <a:r>
              <a:t>Кэширование стадий, зависимости и параметры эксперимента.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560320"/>
            <a:ext cx="3401568" cy="2240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560320"/>
            <a:ext cx="73152" cy="224028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2688336"/>
            <a:ext cx="3035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GITHUB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3090672"/>
            <a:ext cx="3035808" cy="1581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Python 3.11 / 3.12</a:t>
            </a:r>
            <a:br/>
            <a:r>
              <a:t>flake8 + black</a:t>
            </a:r>
            <a:br/>
            <a:r>
              <a:t>pytest + coverage</a:t>
            </a:r>
            <a:br/>
            <a:r>
              <a:t>Telco smoke pipeline</a:t>
            </a:r>
            <a:br/>
            <a:r>
              <a:t>артефакты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698480" cy="53035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0F233F"/>
                </a:solidFill>
                <a:latin typeface="Aptos"/>
              </a:rPr>
              <a:t>Быстрый режим: --skip-tuning --skip-leakage-experiment. Полный режим создаёт модели, CSV, JSON и PNG.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Методология моделирования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Стратификация, кросс-валидация, тюнинг и выбор operating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14/20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7160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split</a:t>
            </a:r>
            <a:br/>
            <a:r>
              <a:t>80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42646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14300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A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37160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5-fold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42646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14300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37160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4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142646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114300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37160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Randomized</a:t>
            </a:r>
            <a:br/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426464"/>
            <a:ext cx="228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2B6CB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1143000"/>
            <a:ext cx="1984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371600"/>
            <a:ext cx="1837943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F233F"/>
                </a:solidFill>
                <a:latin typeface="Aptos"/>
              </a:rPr>
              <a:t>OOF-порог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2423160"/>
          <a:ext cx="1092707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874519"/>
                <a:gridCol w="2057400"/>
                <a:gridCol w="4572000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Модель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Семейство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Дисбаланс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Роль</a:t>
                      </a:r>
                    </a:p>
                  </a:txBody>
                  <a:tcPr marL="63500" marR="63500" marT="38100" marB="38100" anchor="ctr">
                    <a:solidFill>
                      <a:srgbClr val="0F233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линейная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интерпретируемый baseline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бэггинг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нелинейный benchmark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бустинг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scale_pos_weight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точные нелинейные зависимости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LightGBM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бустинг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class_weight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233F"/>
                          </a:solidFill>
                          <a:latin typeface="Aptos"/>
                        </a:defRPr>
                      </a:pPr>
                      <a:r>
                        <a:t>быстрый gradient boosting</a:t>
                      </a:r>
                    </a:p>
                  </a:txBody>
                  <a:tcPr marL="63500" marR="63500" marT="38100" marB="381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22960" y="5532120"/>
            <a:ext cx="10561320" cy="6400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532120"/>
            <a:ext cx="73152" cy="640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660136"/>
            <a:ext cx="1019556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МЕТРИКИ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6062472"/>
            <a:ext cx="10195560" cy="-182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Accuracy · Precision · Recall · F1 · ROC-AUC · PR-AUC. Основной ranking: ROC-AUC; порог: максимум OOF F1.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Стабильность на кросс-валидации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Сравниваем не одну случайную выборку, а распределение качества по фолдам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  <p:pic>
        <p:nvPicPr>
          <p:cNvPr id="8" name="Picture 7" descr="telco_cv_roc_auc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9545"/>
            <a:ext cx="5486400" cy="3253188"/>
          </a:xfrm>
          <a:prstGeom prst="rect">
            <a:avLst/>
          </a:prstGeom>
        </p:spPr>
      </p:pic>
      <p:pic>
        <p:nvPicPr>
          <p:cNvPr id="9" name="Picture 8" descr="bank_cv_roc_auc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887985"/>
            <a:ext cx="5486400" cy="30363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5605272"/>
            <a:ext cx="4800600" cy="5943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605272"/>
            <a:ext cx="73152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733288"/>
            <a:ext cx="44348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6135624"/>
            <a:ext cx="4434840" cy="-640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Logistic Regression стабильна и конкурентна бустингам.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605272"/>
            <a:ext cx="4800600" cy="5943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5605272"/>
            <a:ext cx="73152" cy="59436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5733288"/>
            <a:ext cx="44348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6135624"/>
            <a:ext cx="4434840" cy="-64007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XGBoost и LightGBM дают близкие распределения ROC-AUC.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Финальный результат Telco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Logistic Regression, threshold = 0,58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16/20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0,746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0,556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9831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59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0,774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0,670</a:t>
            </a:r>
          </a:p>
        </p:txBody>
      </p:sp>
      <p:pic>
        <p:nvPicPr>
          <p:cNvPr id="26" name="Picture 25" descr="telco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31" y="2331720"/>
            <a:ext cx="3994697" cy="3429000"/>
          </a:xfrm>
          <a:prstGeom prst="rect">
            <a:avLst/>
          </a:prstGeom>
        </p:spPr>
      </p:pic>
      <p:pic>
        <p:nvPicPr>
          <p:cNvPr id="27" name="Picture 26" descr="telco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53" y="2331720"/>
            <a:ext cx="4103557" cy="3429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5870448"/>
            <a:ext cx="106984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2F855A"/>
                </a:solidFill>
                <a:latin typeface="Aptos"/>
              </a:rPr>
              <a:t>Модель находит около 75% реально уходящих клиентов и проще бустингов в сопровождении.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Финальный результат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XGBoost, threshold = 0,19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0,528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0,603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0,469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9831" y="1143000"/>
            <a:ext cx="1664208" cy="941832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59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B6CB0"/>
                </a:solidFill>
                <a:latin typeface="Aptos"/>
              </a:rPr>
              <a:t>0,878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143000"/>
            <a:ext cx="1664208" cy="941832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1243584"/>
            <a:ext cx="144475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PR-AUC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453896"/>
            <a:ext cx="1444752" cy="35661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ptos"/>
              </a:rPr>
              <a:t>0,492</a:t>
            </a:r>
          </a:p>
        </p:txBody>
      </p:sp>
      <p:pic>
        <p:nvPicPr>
          <p:cNvPr id="26" name="Picture 25" descr="bank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31" y="2331720"/>
            <a:ext cx="3994697" cy="3429000"/>
          </a:xfrm>
          <a:prstGeom prst="rect">
            <a:avLst/>
          </a:prstGeom>
        </p:spPr>
      </p:pic>
      <p:pic>
        <p:nvPicPr>
          <p:cNvPr id="27" name="Picture 26" descr="bank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53" y="2331720"/>
            <a:ext cx="4103557" cy="3429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5870448"/>
            <a:ext cx="1069848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2F855A"/>
                </a:solidFill>
                <a:latin typeface="Aptos"/>
              </a:rPr>
              <a:t>При редком positive-классе модель обнаруживает около 60% потенциальных подписчиков.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Порог решения — часть бизнес-модели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Стандартный threshold 0,5 не оптимален при дисбалансе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18/20</a:t>
            </a:r>
          </a:p>
        </p:txBody>
      </p:sp>
      <p:pic>
        <p:nvPicPr>
          <p:cNvPr id="8" name="Picture 7" descr="telco_threshol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1466"/>
            <a:ext cx="5486400" cy="3152186"/>
          </a:xfrm>
          <a:prstGeom prst="rect">
            <a:avLst/>
          </a:prstGeom>
        </p:spPr>
      </p:pic>
      <p:pic>
        <p:nvPicPr>
          <p:cNvPr id="9" name="Picture 8" descr="bank_threshold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808721"/>
            <a:ext cx="5486400" cy="30576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5440680"/>
            <a:ext cx="48920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5440680"/>
            <a:ext cx="73152" cy="749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568696"/>
            <a:ext cx="45262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971032"/>
            <a:ext cx="45262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threshold 0,58: F1 0,611 → 0,637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440680"/>
            <a:ext cx="48920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5440680"/>
            <a:ext cx="73152" cy="7498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5568696"/>
            <a:ext cx="45262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5971032"/>
            <a:ext cx="45262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threshold 0,19: F1 0,342 → 0,528; Recall ×2,7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Интерпретация и практическая польза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Permutation importance по падению ROC-AUC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19/20</a:t>
            </a:r>
          </a:p>
        </p:txBody>
      </p:sp>
      <p:pic>
        <p:nvPicPr>
          <p:cNvPr id="8" name="Picture 7" descr="telco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952" y="1078992"/>
            <a:ext cx="3383774" cy="4251960"/>
          </a:xfrm>
          <a:prstGeom prst="rect">
            <a:avLst/>
          </a:prstGeom>
        </p:spPr>
      </p:pic>
      <p:pic>
        <p:nvPicPr>
          <p:cNvPr id="9" name="Picture 8" descr="bank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60" y="1078992"/>
            <a:ext cx="3785655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394960"/>
            <a:ext cx="53492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394960"/>
            <a:ext cx="73152" cy="749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522976"/>
            <a:ext cx="49834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TELCO: КОМУ ПРЕДЛОЖИТЬ УДЕРЖАНИЕ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5925312"/>
            <a:ext cx="49834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Contract · tenure · tenure_group — управляемые клиентские признаки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5394960"/>
            <a:ext cx="5349240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5394960"/>
            <a:ext cx="73152" cy="7498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522976"/>
            <a:ext cx="4983479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BANK: КОГДА И КОМУ ЗВОНИТЬ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25312"/>
            <a:ext cx="4983479" cy="914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nr.employed · emp.var.rate · euribor3m — макроэкономический фон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12064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"/>
            <a:ext cx="10561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500" b="1">
                <a:solidFill>
                  <a:srgbClr val="0F233F"/>
                </a:solidFill>
                <a:latin typeface="Aptos"/>
              </a:rPr>
              <a:t>Выводы и следующая итерация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621792"/>
            <a:ext cx="102412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Воспроизводимый результат готов к пилотной бизнес-проверке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Введение в науку о данных  •  Совместно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47104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3493008" cy="162763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70432"/>
            <a:ext cx="73152" cy="162763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29844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00784"/>
            <a:ext cx="3127248" cy="9692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Telco: ROC-AUC 0,848 · F1 0,637</a:t>
            </a:r>
            <a:br/>
            <a:r>
              <a:t>Bank: ROC-AUC 0,817 · F1 0,528</a:t>
            </a:r>
            <a:br/>
            <a:br/>
            <a:r>
              <a:t>Пайплайн воспроизводится одной командой.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70432"/>
            <a:ext cx="3493008" cy="162763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70432"/>
            <a:ext cx="73152" cy="1627632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9844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ТРУДНОСТИ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700784"/>
            <a:ext cx="3127248" cy="9692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Дисбаланс классов</a:t>
            </a:r>
            <a:br/>
            <a:r>
              <a:t>Пропуски и сентинелы</a:t>
            </a:r>
            <a:br/>
            <a:r>
              <a:t>Утечка duration</a:t>
            </a:r>
            <a:br/>
            <a:r>
              <a:t>Долгие CPU-прогоны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70432"/>
            <a:ext cx="3493008" cy="162763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70432"/>
            <a:ext cx="73152" cy="162763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29844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00784"/>
            <a:ext cx="3127248" cy="9692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Нет денежной стоимости ошибок</a:t>
            </a:r>
            <a:br/>
            <a:r>
              <a:t>Нет калибровки</a:t>
            </a:r>
            <a:br/>
            <a:r>
              <a:t>Нет мониторинга дрейфа</a:t>
            </a:r>
            <a:br/>
            <a:r>
              <a:t>Нужен A/B-пилот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36392"/>
            <a:ext cx="3493008" cy="13898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36392"/>
            <a:ext cx="73152" cy="13898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26440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1.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666744"/>
            <a:ext cx="3127248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FastAPI + Docker</a:t>
            </a:r>
            <a:br/>
            <a:r>
              <a:t>версионирование модели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36392"/>
            <a:ext cx="3493008" cy="13898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36392"/>
            <a:ext cx="73152" cy="138988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26440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2. ЭКСПЕРИМЕНТЫ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666744"/>
            <a:ext cx="3127248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MLflow · SHAP</a:t>
            </a:r>
            <a:br/>
            <a:r>
              <a:t>порог по стоимости ошибок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136392"/>
            <a:ext cx="3493008" cy="13898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136392"/>
            <a:ext cx="73152" cy="138988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264408"/>
            <a:ext cx="312724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0F233F"/>
                </a:solidFill>
                <a:latin typeface="Aptos"/>
              </a:rPr>
              <a:t>3. МОНИТОРИНГ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666744"/>
            <a:ext cx="3127248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PSI / KS · качество</a:t>
            </a:r>
            <a:br/>
            <a:r>
              <a:t>автоматическое переобучение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0F233F"/>
                </a:solidFill>
                <a:latin typeface="Aptos"/>
              </a:rPr>
              <a:t>bash scripts/run_all.sh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1069848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300" b="1">
                <a:solidFill>
                  <a:srgbClr val="2B6CB0"/>
                </a:solidFill>
                <a:latin typeface="Aptos"/>
              </a:rPr>
              <a:t>Спасибо! Готовы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